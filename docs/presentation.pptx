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DESIGN AND DEVELOPMENT OF A</a:t>
            </a:r>
            <a:br/>
            <a:r>
              <a:t>CLASSICAL CRYPTOGRAPHY TOOLKIT</a:t>
            </a:r>
          </a:p>
          <a:p>
            <a:pPr>
              <a:defRPr sz="1500">
                <a:solidFill>
                  <a:srgbClr val="38BDF8"/>
                </a:solidFill>
              </a:defRPr>
            </a:pPr>
            <a:r>
              <a:t>Final Year Engineering Mini-Project | Class: Final Year ECM (2026-27) | Course: Network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474720"/>
            <a:ext cx="10332720" cy="2560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657600"/>
            <a:ext cx="9784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8BDF8"/>
                </a:solidFill>
              </a:defRPr>
            </a:pPr>
            <a:r>
              <a:t>PROJECT TEAM MEMBERS:</a:t>
            </a:r>
          </a:p>
          <a:p>
            <a:pPr>
              <a:defRPr b="0" sz="1200">
                <a:solidFill>
                  <a:srgbClr val="FFFFFF"/>
                </a:solidFill>
              </a:defRPr>
            </a:pPr>
            <a:r>
              <a:t>- Student Name 1: [STUDENT_NAME_1]  |  Roll No: [ROLL_NO_1]  |  Batch: [BATCH_1]</a:t>
            </a:r>
          </a:p>
          <a:p>
            <a:pPr>
              <a:defRPr b="0" sz="1200">
                <a:solidFill>
                  <a:srgbClr val="FFFFFF"/>
                </a:solidFill>
              </a:defRPr>
            </a:pPr>
            <a:r>
              <a:t>- Student Name 2: [STUDENT_NAME_2]  |  Roll No: [ROLL_NO_2]  |  Batch: [BATCH_2]</a:t>
            </a:r>
          </a:p>
          <a:p>
            <a:pPr>
              <a:defRPr b="0" sz="1200">
                <a:solidFill>
                  <a:srgbClr val="FFFFFF"/>
                </a:solidFill>
              </a:defRPr>
            </a:pPr>
            <a:r>
              <a:t>- Student Name 3: [STUDENT_NAME_3]  |  Roll No: [ROLL_NO_3]  |  Batch: [BATCH_3]</a:t>
            </a:r>
          </a:p>
          <a:p>
            <a:br/>
            <a:pPr>
              <a:defRPr b="1" sz="1300">
                <a:solidFill>
                  <a:srgbClr val="38BDF8"/>
                </a:solidFill>
              </a:defRPr>
            </a:pPr>
            <a:r>
              <a:t>PROJECT GUIDE &amp; INSTITUTION:</a:t>
            </a:r>
          </a:p>
          <a:p>
            <a:pPr>
              <a:defRPr b="0" sz="1200">
                <a:solidFill>
                  <a:srgbClr val="FFFFFF"/>
                </a:solidFill>
              </a:defRPr>
            </a:pPr>
            <a:r>
              <a:t>- Guide: [GUIDE_NAME], Dept. of Electronics and Computer Engineering (ECM)</a:t>
            </a:r>
          </a:p>
          <a:p>
            <a:pPr>
              <a:defRPr b="0" sz="1200">
                <a:solidFill>
                  <a:srgbClr val="FFFFFF"/>
                </a:solidFill>
              </a:defRPr>
            </a:pPr>
            <a:r>
              <a:t>- College: [COLLEGE_NAME_PLACEHOLDER]  |  [UNIVERSITY_AFFILIATION_PLACEHOLDER]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1. Problem Statement &amp; Key Objectives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Network Security Mini-Project (2026-27)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49377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563EB"/>
                </a:solidFill>
              </a:defRPr>
            </a:pPr>
            <a:r>
              <a:t>PROBLEM STATEMENT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Theoretical Gap: Classical ciphers are widely taught in Network Security but rarely integrated into a single, fully functional testbed.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Edge-Case Failures: Fragmented academic scripts frequently crash on spaces, punctuation, mixed case, or non-invertible matrix inputs.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Misconceptions: Students often conflate computational speed with security, or overlook strict One-Time Pad perfect secrecy conditions.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Need: A unified, standalone, demonstrable desktop application that enforces mathematical rigor, visual comparisons, and file encryption.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80160"/>
            <a:ext cx="5212080" cy="49377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563EB"/>
                </a:solidFill>
              </a:defRPr>
            </a:pPr>
            <a:r>
              <a:t>PROJECT OBJECTIVES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Implement 8 Classical Ciphers: Caesar, Monoalphabetic, Playfair, Hill, Vigenère, OTP, Rail Fence, and Columnar Transposition.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Strict Key Validation: Check gcd(det(K), 26) = 1 for Hill, OTP length equality, and Playfair digraph rules.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Modern Tkinter Desktop GUI: 13 main menu options with responsive layouts, real-time timer, and status indicators.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Comparative Benchmarking: Measure microsecond execution speed and output expansion across all ciphers.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Safe Text File Operations: Non-destructive UTF-8 file encryption, decryption, and previewing.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2. System Architecture &amp; Cryptographic Algorithms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Network Security Mini-Project (2026-27)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49377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563EB"/>
                </a:solidFill>
              </a:defRPr>
            </a:pPr>
            <a:r>
              <a:t>SUBSTITUTION CIPHERS (6 Algorithms)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1. Caesar Cipher: Shift k mod 26. Verified: 'NETWORK SECURITY' + 5 -&gt; 'SJYBTWP XJHZWNYD'.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2. Monoalphabetic: 26! keyspace permutation. Full 26-char key or keyword derivation.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3. Playfair Cipher: 5x5 matrix digraphs (J=I). Automatic 'X'/'Q' filler insertion.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4. Hill Cipher: Modular linear algebra mod 26. Invertibility check: gcd(det(K), 26) = 1.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5. Vigenère Cipher: Polyalphabetic keystream. Preserves spaces/punctuation without advancing key.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6. One-Time Pad: CSPRNG secrets key. Perfect Shannon secrecy iff key is random &amp; never reused.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80160"/>
            <a:ext cx="5212080" cy="49377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563EB"/>
                </a:solidFill>
              </a:defRPr>
            </a:pPr>
            <a:r>
              <a:t>TRANSPOSITION &amp; TOOLS (6 Features)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7. Rail Fence Cipher: Zigzag rail traversal. Reversible matrix reconstruction preserves spaces.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8. Columnar Transposition: Permutation matrix read by key rank. Exact irregular grid reconstruction.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9. Comparison Engine: Multi-cipher benchmark table measuring execution ms and expansion.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10. Encrypt Text File: Safe UTF-8 file loading, cipher execution, live preview, destination save.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11. Decrypt Text File: Reverses text file encryption with matching cipher and key.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12. Educational Help: Comprehensive mathematical theory, formulas, and vulnerability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3. Implementation &amp; GUI Architecture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Network Security Mini-Project (2026-27)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49377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563EB"/>
                </a:solidFill>
              </a:defRPr>
            </a:pPr>
            <a:r>
              <a:t>MODULAR SOFTWARE DESIGN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Separation of Concerns: Complete decoupling of UI presentation (`gui.py`), input validation (`validators.py`), and mathematical cipher engines.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Zero Fragile Dependencies: Built 100% with standard Python libraries; runs standalone without cloud APIs, servers, or external databases.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Native Windows Compatibility: Fully verified on Windows 10 &amp; 11 in PowerShell, VS Code, and PyCharm.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CSPRNG Security: Uses Python's `secrets` module for high-entropy One-Time Pad key generation.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Multi-Mode Entry Point: `main.py` provides native Tkinter GUI, CLI menu mode, and automated verification demo (`--demo`).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80160"/>
            <a:ext cx="5212080" cy="49377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563EB"/>
                </a:solidFill>
              </a:defRPr>
            </a:pPr>
            <a:r>
              <a:t>GUI USER EXPERIENCE HIGHLIGHTS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Categorized Sidebar: Clean section grouping for Substitution Ciphers, Transposition Ciphers, and Tools (Options 1–13).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Load Verified Sample: One-click button pre-populates textbook test vectors for effortless laboratory demonstration.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Dynamic Key Placeholders: Entry field prompts change dynamically to guide user on expected key formats.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Execution Timer: Real-time microsecond performance monitoring rendered on the bottom status bar.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Dual-Pane File Preview: Live side-by-side inspection of source and encrypted file content before saving.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4. Testing, Verification &amp; Benchmark Results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Network Security Mini-Project (2026-27)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6A34A"/>
                </a:solidFill>
              </a:defRPr>
            </a:pPr>
            <a:r>
              <a:t>AUTOMATED TEST SUITE: 58 TESTS PASSED (100.0% SUCCESS RATE IN 0.25s)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✔ Caesar Cipher (7 tests): Verified sample 'NETWORK SECURITY' + key 5 -&gt; 'SJYBTWP XJHZWNYD'. Passed.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✔ Monoalphabetic (7 tests): 26-letter permutation, keyword derivation, duplicate detection. Passed.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✔ Playfair Cipher (8 tests): 5x5 matrix construction, J-to-I mapping, repeated letter filler 'X'. Passed.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✔ Hill Cipher (9 tests): 2x2 and 3x3 matrices, non-invertible det=0 rejection, factor 2/13 rejection. Passed.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✔ Vigenère Cipher (5 tests): Known vector 'LEMON', non-alpha bypass, case preservation. Passed.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✔ One-Time Pad (5 tests): CSPRNG secrets generation, exact length check, round-trip decryption. Passed.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✔ Rail Fence (6 tests): Depth 2-10, zigzag reversible traversal, punctuation preservation. Passed.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✔ Columnar Transposition (6 tests): Irregular rectangular grids, keyword rank, duplicate letters. Passed.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✔ File Operations &amp; Benchmarks (5 tests): UTF-8 validation, empty file rejection, performance timer. Passed.</a:t>
            </a:r>
          </a:p>
          <a:p>
            <a:br/>
            <a:pPr>
              <a:defRPr b="1" sz="1200">
                <a:solidFill>
                  <a:srgbClr val="2563EB"/>
                </a:solidFill>
              </a:defRPr>
            </a:pPr>
            <a:r>
              <a:t>PERFORMANCE SUMMARY: Average Latency: 0.02 ms to 0.18 ms | Execution speed != Security.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5. Conclusion, Applications &amp; Future Scope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Network Security Mini-Project (2026-27)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49377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563EB"/>
                </a:solidFill>
              </a:defRPr>
            </a:pPr>
            <a:r>
              <a:t>APPLICATIONS &amp; EDUCATIONAL IMPACT</a:t>
            </a:r>
          </a:p>
          <a:p>
            <a:pPr>
              <a:spcAft>
                <a:spcPts val="1200"/>
              </a:spcAft>
              <a:defRPr sz="1200">
                <a:solidFill>
                  <a:srgbClr val="1E293B"/>
                </a:solidFill>
              </a:defRPr>
            </a:pPr>
            <a:r>
              <a:t>• Undergraduate Laboratory Toolkit: Serves as a ready-to-demonstrate practical software system for Network Security laboratory practicals.</a:t>
            </a:r>
          </a:p>
          <a:p>
            <a:pPr>
              <a:spcAft>
                <a:spcPts val="1200"/>
              </a:spcAft>
              <a:defRPr sz="1200">
                <a:solidFill>
                  <a:srgbClr val="1E293B"/>
                </a:solidFill>
              </a:defRPr>
            </a:pPr>
            <a:r>
              <a:t>• Interactive Cryptanalysis Teaching: Allows instructors to demonstrate letter frequencies, digraph patterns, and Kasiski period analysis.</a:t>
            </a:r>
          </a:p>
          <a:p>
            <a:pPr>
              <a:spcAft>
                <a:spcPts val="1200"/>
              </a:spcAft>
              <a:defRPr sz="1200">
                <a:solidFill>
                  <a:srgbClr val="1E293B"/>
                </a:solidFill>
              </a:defRPr>
            </a:pPr>
            <a:r>
              <a:t>• Rigorous Software Engineering: Exposes engineering students to robust unit testing, exception handling, and GUI development best practices.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80160"/>
            <a:ext cx="5212080" cy="49377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563EB"/>
                </a:solidFill>
              </a:defRPr>
            </a:pPr>
            <a:r>
              <a:t>CONCLUSION &amp; FUTURE ENHANCEMENTS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Conclusion: Successfully designed and developed a mathematically validated Classical Cryptography Toolkit satisfying all ECM academic deliverables.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Automated Cryptanalysis: Future work will integrate frequency distribution charts and automated ciphertext-only crack engines.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Modern Algorithms Extension: Extend the comparison engine to modern symmetric (AES) and asymmetric (RSA) ciphers.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Web Deployment: Package core Python modules into a containerized WebAssembly / FastAPI web demonstration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